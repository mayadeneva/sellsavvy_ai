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HK Grotesk Bold" charset="1" panose="00000800000000000000"/>
      <p:regular r:id="rId14"/>
    </p:embeddedFont>
    <p:embeddedFont>
      <p:font typeface="HK Grotesk" charset="1" panose="00000500000000000000"/>
      <p:regular r:id="rId15"/>
    </p:embeddedFont>
    <p:embeddedFont>
      <p:font typeface="HK Grotesk Semi-Bold" charset="1" panose="000007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-129297" y="4178824"/>
            <a:ext cx="9146584" cy="5246370"/>
            <a:chOff x="0" y="0"/>
            <a:chExt cx="7981950" cy="4578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65810" y="21590"/>
              <a:ext cx="6451600" cy="4326890"/>
            </a:xfrm>
            <a:custGeom>
              <a:avLst/>
              <a:gdLst/>
              <a:ahLst/>
              <a:cxnLst/>
              <a:rect r="r" b="b" t="t" l="l"/>
              <a:pathLst>
                <a:path h="4326890" w="645160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981950" cy="4542790"/>
            </a:xfrm>
            <a:custGeom>
              <a:avLst/>
              <a:gdLst/>
              <a:ahLst/>
              <a:cxnLst/>
              <a:rect r="r" b="b" t="t" l="l"/>
              <a:pathLst>
                <a:path h="4542790" w="798195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969696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3460750" y="4349750"/>
              <a:ext cx="1059180" cy="96520"/>
            </a:xfrm>
            <a:custGeom>
              <a:avLst/>
              <a:gdLst/>
              <a:ahLst/>
              <a:cxnLst/>
              <a:rect r="r" b="b" t="t" l="l"/>
              <a:pathLst>
                <a:path h="96520" w="105918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727171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63830" y="4542790"/>
              <a:ext cx="7654290" cy="35560"/>
            </a:xfrm>
            <a:custGeom>
              <a:avLst/>
              <a:gdLst/>
              <a:ahLst/>
              <a:cxnLst/>
              <a:rect r="r" b="b" t="t" l="l"/>
              <a:pathLst>
                <a:path h="35560" w="765429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727171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962660" y="276860"/>
              <a:ext cx="6055360" cy="3789680"/>
            </a:xfrm>
            <a:custGeom>
              <a:avLst/>
              <a:gdLst/>
              <a:ahLst/>
              <a:cxnLst/>
              <a:rect r="r" b="b" t="t" l="l"/>
              <a:pathLst>
                <a:path h="3789680" w="605536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>
              <a:blip r:embed="rId2"/>
              <a:stretch>
                <a:fillRect l="-572" t="0" r="-572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017287" y="2271082"/>
            <a:ext cx="9033435" cy="3534900"/>
            <a:chOff x="0" y="0"/>
            <a:chExt cx="12044580" cy="4713199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944908"/>
              <a:ext cx="12044580" cy="1635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414042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SellSavvy AI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4134503"/>
              <a:ext cx="10246721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39"/>
                </a:lnSpc>
              </a:pPr>
              <a:r>
                <a:rPr lang="en-US" sz="2599">
                  <a:solidFill>
                    <a:srgbClr val="414042"/>
                  </a:solidFill>
                  <a:latin typeface="HK Grotesk"/>
                  <a:ea typeface="HK Grotesk"/>
                  <a:cs typeface="HK Grotesk"/>
                  <a:sym typeface="HK Grotesk"/>
                </a:rPr>
                <a:t>Изработена от: Мая Денева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66675"/>
              <a:ext cx="11533768" cy="14094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40"/>
                </a:lnSpc>
                <a:spcBef>
                  <a:spcPct val="0"/>
                </a:spcBef>
              </a:pPr>
              <a:r>
                <a:rPr lang="en-US" sz="3100">
                  <a:solidFill>
                    <a:srgbClr val="414042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AI-базирана система за автоматизация на електронната търговия и SEO оптимизация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222A9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2632806"/>
            <a:ext cx="7658100" cy="5021387"/>
            <a:chOff x="0" y="0"/>
            <a:chExt cx="2016948" cy="13225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6948" cy="1322505"/>
            </a:xfrm>
            <a:custGeom>
              <a:avLst/>
              <a:gdLst/>
              <a:ahLst/>
              <a:cxnLst/>
              <a:rect r="r" b="b" t="t" l="l"/>
              <a:pathLst>
                <a:path h="1322505" w="2016948">
                  <a:moveTo>
                    <a:pt x="50547" y="0"/>
                  </a:moveTo>
                  <a:lnTo>
                    <a:pt x="1966401" y="0"/>
                  </a:lnTo>
                  <a:cubicBezTo>
                    <a:pt x="1979807" y="0"/>
                    <a:pt x="1992664" y="5326"/>
                    <a:pt x="2002143" y="14805"/>
                  </a:cubicBezTo>
                  <a:cubicBezTo>
                    <a:pt x="2011623" y="24284"/>
                    <a:pt x="2016948" y="37141"/>
                    <a:pt x="2016948" y="50547"/>
                  </a:cubicBezTo>
                  <a:lnTo>
                    <a:pt x="2016948" y="1271958"/>
                  </a:lnTo>
                  <a:cubicBezTo>
                    <a:pt x="2016948" y="1285364"/>
                    <a:pt x="2011623" y="1298221"/>
                    <a:pt x="2002143" y="1307700"/>
                  </a:cubicBezTo>
                  <a:cubicBezTo>
                    <a:pt x="1992664" y="1317180"/>
                    <a:pt x="1979807" y="1322505"/>
                    <a:pt x="1966401" y="1322505"/>
                  </a:cubicBezTo>
                  <a:lnTo>
                    <a:pt x="50547" y="1322505"/>
                  </a:lnTo>
                  <a:cubicBezTo>
                    <a:pt x="37141" y="1322505"/>
                    <a:pt x="24284" y="1317180"/>
                    <a:pt x="14805" y="1307700"/>
                  </a:cubicBezTo>
                  <a:cubicBezTo>
                    <a:pt x="5326" y="1298221"/>
                    <a:pt x="0" y="1285364"/>
                    <a:pt x="0" y="1271958"/>
                  </a:cubicBezTo>
                  <a:lnTo>
                    <a:pt x="0" y="50547"/>
                  </a:lnTo>
                  <a:cubicBezTo>
                    <a:pt x="0" y="37141"/>
                    <a:pt x="5326" y="24284"/>
                    <a:pt x="14805" y="14805"/>
                  </a:cubicBezTo>
                  <a:cubicBezTo>
                    <a:pt x="24284" y="5326"/>
                    <a:pt x="37141" y="0"/>
                    <a:pt x="50547" y="0"/>
                  </a:cubicBezTo>
                  <a:close/>
                </a:path>
              </a:pathLst>
            </a:custGeom>
            <a:solidFill>
              <a:srgbClr val="F1F1F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16948" cy="13606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6883459"/>
            <a:ext cx="6497276" cy="2134824"/>
            <a:chOff x="0" y="0"/>
            <a:chExt cx="4901638" cy="161054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901638" cy="1610542"/>
            </a:xfrm>
            <a:custGeom>
              <a:avLst/>
              <a:gdLst/>
              <a:ahLst/>
              <a:cxnLst/>
              <a:rect r="r" b="b" t="t" l="l"/>
              <a:pathLst>
                <a:path h="1610542" w="4901638">
                  <a:moveTo>
                    <a:pt x="23831" y="0"/>
                  </a:moveTo>
                  <a:lnTo>
                    <a:pt x="4877807" y="0"/>
                  </a:lnTo>
                  <a:cubicBezTo>
                    <a:pt x="4884127" y="0"/>
                    <a:pt x="4890189" y="2511"/>
                    <a:pt x="4894658" y="6980"/>
                  </a:cubicBezTo>
                  <a:cubicBezTo>
                    <a:pt x="4899128" y="11449"/>
                    <a:pt x="4901638" y="17511"/>
                    <a:pt x="4901638" y="23831"/>
                  </a:cubicBezTo>
                  <a:lnTo>
                    <a:pt x="4901638" y="1586711"/>
                  </a:lnTo>
                  <a:cubicBezTo>
                    <a:pt x="4901638" y="1599873"/>
                    <a:pt x="4890969" y="1610542"/>
                    <a:pt x="4877807" y="1610542"/>
                  </a:cubicBezTo>
                  <a:lnTo>
                    <a:pt x="23831" y="1610542"/>
                  </a:lnTo>
                  <a:cubicBezTo>
                    <a:pt x="17511" y="1610542"/>
                    <a:pt x="11449" y="1608031"/>
                    <a:pt x="6980" y="1603562"/>
                  </a:cubicBezTo>
                  <a:cubicBezTo>
                    <a:pt x="2511" y="1599093"/>
                    <a:pt x="0" y="1593031"/>
                    <a:pt x="0" y="1586711"/>
                  </a:cubicBezTo>
                  <a:lnTo>
                    <a:pt x="0" y="23831"/>
                  </a:lnTo>
                  <a:cubicBezTo>
                    <a:pt x="0" y="17511"/>
                    <a:pt x="2511" y="11449"/>
                    <a:pt x="6980" y="6980"/>
                  </a:cubicBezTo>
                  <a:cubicBezTo>
                    <a:pt x="11449" y="2511"/>
                    <a:pt x="17511" y="0"/>
                    <a:pt x="23831" y="0"/>
                  </a:cubicBezTo>
                  <a:close/>
                </a:path>
              </a:pathLst>
            </a:custGeom>
            <a:solidFill>
              <a:srgbClr val="F1F1F1"/>
            </a:solidFill>
            <a:ln w="19050" cap="sq">
              <a:solidFill>
                <a:srgbClr val="414042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901638" cy="1648642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414042"/>
                  </a:solidFill>
                  <a:latin typeface="HK Grotesk"/>
                  <a:ea typeface="HK Grotesk"/>
                  <a:cs typeface="HK Grotesk"/>
                  <a:sym typeface="HK Grotesk"/>
                </a:rPr>
                <a:t>Чрез комбинирането на машинно обучение, обработка на естествен език (NLP) и компютърно зрение, проектът предоставя интелигентно и автоматизирано решение, което помага на търговците да създават висококачествени продуктови листинги, съобразени с най-добрите SEO практики.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05719" y="3917852"/>
            <a:ext cx="7989481" cy="1991048"/>
            <a:chOff x="0" y="0"/>
            <a:chExt cx="10652642" cy="265473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9525"/>
              <a:ext cx="10652642" cy="1419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400"/>
                </a:lnSpc>
              </a:pPr>
              <a:r>
                <a:rPr lang="en-US" sz="7000" b="true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Функционалности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947129"/>
              <a:ext cx="10181663" cy="7076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80"/>
                </a:lnSpc>
              </a:pPr>
              <a:r>
                <a:rPr lang="en-US" sz="3200" b="true">
                  <a:solidFill>
                    <a:srgbClr val="FFFFFF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Реализирани с AI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475597" y="3317779"/>
            <a:ext cx="6994905" cy="4336415"/>
            <a:chOff x="0" y="0"/>
            <a:chExt cx="9326540" cy="5781887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209550"/>
              <a:ext cx="9326540" cy="7336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61340" indent="-280670" lvl="1">
                <a:lnSpc>
                  <a:spcPts val="5200"/>
                </a:lnSpc>
                <a:buFont typeface="Arial"/>
                <a:buChar char="•"/>
              </a:pPr>
              <a:r>
                <a:rPr lang="en-US" sz="2600">
                  <a:solidFill>
                    <a:srgbClr val="414042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AI Предложена Категория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670013"/>
              <a:ext cx="9326540" cy="7336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61340" indent="-280670" lvl="1">
                <a:lnSpc>
                  <a:spcPts val="5200"/>
                </a:lnSpc>
                <a:buFont typeface="Arial"/>
                <a:buChar char="•"/>
              </a:pPr>
              <a:r>
                <a:rPr lang="en-US" sz="2600">
                  <a:solidFill>
                    <a:srgbClr val="414042"/>
                  </a:solidFill>
                  <a:latin typeface="HK Grotesk"/>
                  <a:ea typeface="HK Grotesk"/>
                  <a:cs typeface="HK Grotesk"/>
                  <a:sym typeface="HK Grotesk"/>
                </a:rPr>
                <a:t>Генериране на SEO Ключови думи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549699"/>
              <a:ext cx="9326540" cy="7336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61340" indent="-280670" lvl="1">
                <a:lnSpc>
                  <a:spcPts val="5200"/>
                </a:lnSpc>
                <a:buFont typeface="Arial"/>
                <a:buChar char="•"/>
              </a:pPr>
              <a:r>
                <a:rPr lang="en-US" sz="2600">
                  <a:solidFill>
                    <a:srgbClr val="414042"/>
                  </a:solidFill>
                  <a:latin typeface="HK Grotesk"/>
                  <a:ea typeface="HK Grotesk"/>
                  <a:cs typeface="HK Grotesk"/>
                  <a:sym typeface="HK Grotesk"/>
                </a:rPr>
                <a:t>Графика на класирането в търсачка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2429386"/>
              <a:ext cx="9326540" cy="7336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61340" indent="-280670" lvl="1">
                <a:lnSpc>
                  <a:spcPts val="5200"/>
                </a:lnSpc>
                <a:buFont typeface="Arial"/>
                <a:buChar char="•"/>
              </a:pPr>
              <a:r>
                <a:rPr lang="en-US" sz="2600">
                  <a:solidFill>
                    <a:srgbClr val="414042"/>
                  </a:solidFill>
                  <a:latin typeface="HK Grotesk"/>
                  <a:ea typeface="HK Grotesk"/>
                  <a:cs typeface="HK Grotesk"/>
                  <a:sym typeface="HK Grotesk"/>
                </a:rPr>
                <a:t>Генериране на SEO продуктово описание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3309073"/>
              <a:ext cx="9326540" cy="16099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61340" indent="-280670" lvl="1">
                <a:lnSpc>
                  <a:spcPts val="5200"/>
                </a:lnSpc>
                <a:buFont typeface="Arial"/>
                <a:buChar char="•"/>
              </a:pPr>
              <a:r>
                <a:rPr lang="en-US" sz="2600">
                  <a:solidFill>
                    <a:srgbClr val="414042"/>
                  </a:solidFill>
                  <a:latin typeface="HK Grotesk"/>
                  <a:ea typeface="HK Grotesk"/>
                  <a:cs typeface="HK Grotesk"/>
                  <a:sym typeface="HK Grotesk"/>
                </a:rPr>
                <a:t>Обработване на изображение чрез смяна на фон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5048250"/>
              <a:ext cx="9326540" cy="7336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200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07987" y="2134971"/>
            <a:ext cx="12672027" cy="7123329"/>
          </a:xfrm>
          <a:custGeom>
            <a:avLst/>
            <a:gdLst/>
            <a:ahLst/>
            <a:cxnLst/>
            <a:rect r="r" b="b" t="t" l="l"/>
            <a:pathLst>
              <a:path h="7123329" w="12672027">
                <a:moveTo>
                  <a:pt x="0" y="0"/>
                </a:moveTo>
                <a:lnTo>
                  <a:pt x="12672026" y="0"/>
                </a:lnTo>
                <a:lnTo>
                  <a:pt x="12672026" y="7123329"/>
                </a:lnTo>
                <a:lnTo>
                  <a:pt x="0" y="71233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401883" y="463546"/>
            <a:ext cx="8115300" cy="3072485"/>
            <a:chOff x="0" y="0"/>
            <a:chExt cx="10820400" cy="4096647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9525"/>
              <a:ext cx="10820400" cy="1419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400"/>
                </a:lnSpc>
              </a:pPr>
              <a:r>
                <a:rPr lang="en-US" sz="7000" b="true">
                  <a:solidFill>
                    <a:srgbClr val="414042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Архитектура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231143"/>
              <a:ext cx="8917670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517950"/>
              <a:ext cx="8917670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78468" y="2080063"/>
            <a:ext cx="16164170" cy="7576955"/>
          </a:xfrm>
          <a:custGeom>
            <a:avLst/>
            <a:gdLst/>
            <a:ahLst/>
            <a:cxnLst/>
            <a:rect r="r" b="b" t="t" l="l"/>
            <a:pathLst>
              <a:path h="7576955" w="16164170">
                <a:moveTo>
                  <a:pt x="0" y="0"/>
                </a:moveTo>
                <a:lnTo>
                  <a:pt x="16164170" y="0"/>
                </a:lnTo>
                <a:lnTo>
                  <a:pt x="16164170" y="7576955"/>
                </a:lnTo>
                <a:lnTo>
                  <a:pt x="0" y="75769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3020755" y="543821"/>
            <a:ext cx="11305701" cy="3072485"/>
            <a:chOff x="0" y="0"/>
            <a:chExt cx="15074267" cy="4096647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9525"/>
              <a:ext cx="15074267" cy="1419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400"/>
                </a:lnSpc>
              </a:pPr>
              <a:r>
                <a:rPr lang="en-US" sz="7000" b="true">
                  <a:solidFill>
                    <a:srgbClr val="414042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Предлагане на категория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231143"/>
              <a:ext cx="12423510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517950"/>
              <a:ext cx="12423510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27274" y="2208863"/>
            <a:ext cx="14063714" cy="7049437"/>
          </a:xfrm>
          <a:custGeom>
            <a:avLst/>
            <a:gdLst/>
            <a:ahLst/>
            <a:cxnLst/>
            <a:rect r="r" b="b" t="t" l="l"/>
            <a:pathLst>
              <a:path h="7049437" w="14063714">
                <a:moveTo>
                  <a:pt x="0" y="0"/>
                </a:moveTo>
                <a:lnTo>
                  <a:pt x="14063715" y="0"/>
                </a:lnTo>
                <a:lnTo>
                  <a:pt x="14063715" y="7049437"/>
                </a:lnTo>
                <a:lnTo>
                  <a:pt x="0" y="70494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020755" y="543821"/>
            <a:ext cx="13252353" cy="3072485"/>
            <a:chOff x="0" y="0"/>
            <a:chExt cx="17669804" cy="4096647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9525"/>
              <a:ext cx="17669804" cy="1419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400"/>
                </a:lnSpc>
              </a:pPr>
              <a:r>
                <a:rPr lang="en-US" sz="7000" b="true">
                  <a:solidFill>
                    <a:srgbClr val="414042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Генериране на ключови думи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231143"/>
              <a:ext cx="14562630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517950"/>
              <a:ext cx="14562630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81340" y="2102644"/>
            <a:ext cx="14925321" cy="6846991"/>
          </a:xfrm>
          <a:custGeom>
            <a:avLst/>
            <a:gdLst/>
            <a:ahLst/>
            <a:cxnLst/>
            <a:rect r="r" b="b" t="t" l="l"/>
            <a:pathLst>
              <a:path h="6846991" w="14925321">
                <a:moveTo>
                  <a:pt x="0" y="0"/>
                </a:moveTo>
                <a:lnTo>
                  <a:pt x="14925320" y="0"/>
                </a:lnTo>
                <a:lnTo>
                  <a:pt x="14925320" y="6846991"/>
                </a:lnTo>
                <a:lnTo>
                  <a:pt x="0" y="68469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845590" y="566401"/>
            <a:ext cx="13252353" cy="3072485"/>
            <a:chOff x="0" y="0"/>
            <a:chExt cx="17669804" cy="4096647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9525"/>
              <a:ext cx="17669804" cy="1419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400"/>
                </a:lnSpc>
              </a:pPr>
              <a:r>
                <a:rPr lang="en-US" sz="7000" b="true">
                  <a:solidFill>
                    <a:srgbClr val="414042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Генериране на описание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231143"/>
              <a:ext cx="14562630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517950"/>
              <a:ext cx="14562630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44032" y="2565519"/>
            <a:ext cx="13765929" cy="6469987"/>
          </a:xfrm>
          <a:custGeom>
            <a:avLst/>
            <a:gdLst/>
            <a:ahLst/>
            <a:cxnLst/>
            <a:rect r="r" b="b" t="t" l="l"/>
            <a:pathLst>
              <a:path h="6469987" w="13765929">
                <a:moveTo>
                  <a:pt x="0" y="0"/>
                </a:moveTo>
                <a:lnTo>
                  <a:pt x="13765929" y="0"/>
                </a:lnTo>
                <a:lnTo>
                  <a:pt x="13765929" y="6469987"/>
                </a:lnTo>
                <a:lnTo>
                  <a:pt x="0" y="64699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057608" y="706467"/>
            <a:ext cx="13252353" cy="3072485"/>
            <a:chOff x="0" y="0"/>
            <a:chExt cx="17669804" cy="4096647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9525"/>
              <a:ext cx="17669804" cy="1419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400"/>
                </a:lnSpc>
              </a:pPr>
              <a:r>
                <a:rPr lang="en-US" sz="7000" b="true">
                  <a:solidFill>
                    <a:srgbClr val="414042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Смяна на фон на изображение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231143"/>
              <a:ext cx="14562630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517950"/>
              <a:ext cx="14562630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222A9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65492" y="3037913"/>
            <a:ext cx="9422508" cy="4211175"/>
            <a:chOff x="0" y="0"/>
            <a:chExt cx="12563344" cy="5614899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221008"/>
              <a:ext cx="12563344" cy="3260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Благодаря за вниманието!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5036203"/>
              <a:ext cx="10688051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39"/>
                </a:lnSpc>
              </a:pP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66675"/>
              <a:ext cx="12030531" cy="6855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4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DAGe7Az2Esc</dc:identifier>
  <dcterms:modified xsi:type="dcterms:W3CDTF">2011-08-01T06:04:30Z</dcterms:modified>
  <cp:revision>1</cp:revision>
  <dc:title>SellSavvy AI</dc:title>
</cp:coreProperties>
</file>